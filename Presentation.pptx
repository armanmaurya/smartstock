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 ·  AGILE CAPSTONE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StockSmart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Inventory Optimization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stock, barcode and RFID capture, and KPI-driven reordering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Spring Boot  ·  Angular  ·  Oracle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ABES Engineering College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188720"/>
            <a:ext cx="731520" cy="685800"/>
          </a:xfrm>
          <a:prstGeom prst="rect">
            <a:avLst/>
          </a:prstGeom>
          <a:solidFill>
            <a:srgbClr val="6B1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0408" y="1565910"/>
            <a:ext cx="5120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86984" y="158648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2821" y="158648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8658" y="158648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4494" y="158648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0331" y="158648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158648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2005" y="158648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1928" y="1417320"/>
            <a:ext cx="548640" cy="457200"/>
          </a:xfrm>
          <a:prstGeom prst="rect">
            <a:avLst/>
          </a:prstGeom>
          <a:solidFill>
            <a:srgbClr val="C08A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1668780"/>
            <a:ext cx="384048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68249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1034" y="168249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0411" y="168249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9789" y="168249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9166" y="168249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168249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87922" y="168249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0296" y="1097280"/>
            <a:ext cx="868680" cy="777240"/>
          </a:xfrm>
          <a:prstGeom prst="rect">
            <a:avLst/>
          </a:prstGeom>
          <a:solidFill>
            <a:srgbClr val="4F15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0598" y="1524762"/>
            <a:ext cx="608076" cy="2176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14032" y="1548079"/>
            <a:ext cx="18288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2213" y="1548079"/>
            <a:ext cx="10973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0394" y="1548079"/>
            <a:ext cx="18288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48576" y="1548079"/>
            <a:ext cx="10973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6757" y="1548079"/>
            <a:ext cx="18288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04938" y="1548079"/>
            <a:ext cx="10973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3119" y="1548079"/>
            <a:ext cx="18288" cy="170993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18704" y="1325880"/>
            <a:ext cx="640080" cy="548640"/>
          </a:xfrm>
          <a:prstGeom prst="rect">
            <a:avLst/>
          </a:prstGeom>
          <a:solidFill>
            <a:srgbClr val="8C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4716" y="1627632"/>
            <a:ext cx="448056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164409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04327" y="164409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1934" y="164409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19542" y="164409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7149" y="164409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4756" y="164409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92363" y="164409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49240" y="1874520"/>
            <a:ext cx="3429000" cy="54864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40680" y="2514600"/>
            <a:ext cx="640080" cy="548640"/>
          </a:xfrm>
          <a:prstGeom prst="rect">
            <a:avLst/>
          </a:prstGeom>
          <a:solidFill>
            <a:srgbClr val="8C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36692" y="2816352"/>
            <a:ext cx="448056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68696" y="283281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26303" y="283281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83910" y="283281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1518" y="283281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99125" y="283281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6732" y="283281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14339" y="283281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0488" y="2331720"/>
            <a:ext cx="822960" cy="731520"/>
          </a:xfrm>
          <a:prstGeom prst="rect">
            <a:avLst/>
          </a:prstGeom>
          <a:solidFill>
            <a:srgbClr val="6B1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13932" y="2734056"/>
            <a:ext cx="576072" cy="20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55080" y="275600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29146" y="275600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03213" y="275600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77279" y="275600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51346" y="275600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25412" y="275600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99478" y="275600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23176" y="2560320"/>
            <a:ext cx="548640" cy="502920"/>
          </a:xfrm>
          <a:prstGeom prst="rect">
            <a:avLst/>
          </a:prstGeom>
          <a:solidFill>
            <a:srgbClr val="C08A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05472" y="2836926"/>
            <a:ext cx="384048" cy="1408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32904" y="2852014"/>
            <a:ext cx="18288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82282" y="2852014"/>
            <a:ext cx="10973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31659" y="2852014"/>
            <a:ext cx="18288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81037" y="2852014"/>
            <a:ext cx="10973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30414" y="2852014"/>
            <a:ext cx="18288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79792" y="2852014"/>
            <a:ext cx="10973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29170" y="2852014"/>
            <a:ext cx="18288" cy="11064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81544" y="2423160"/>
            <a:ext cx="731520" cy="640080"/>
          </a:xfrm>
          <a:prstGeom prst="rect">
            <a:avLst/>
          </a:prstGeom>
          <a:solidFill>
            <a:srgbClr val="4F15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91272" y="2775204"/>
            <a:ext cx="512064" cy="1792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27848" y="2794406"/>
            <a:ext cx="18288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93685" y="2794406"/>
            <a:ext cx="10973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59522" y="2794406"/>
            <a:ext cx="18288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25358" y="2794406"/>
            <a:ext cx="10973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91195" y="2794406"/>
            <a:ext cx="18288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57032" y="2794406"/>
            <a:ext cx="10973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22869" y="2794406"/>
            <a:ext cx="18288" cy="14081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49240" y="3063240"/>
            <a:ext cx="3429000" cy="54864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40680" y="3520440"/>
            <a:ext cx="868680" cy="731520"/>
          </a:xfrm>
          <a:prstGeom prst="rect">
            <a:avLst/>
          </a:prstGeom>
          <a:solidFill>
            <a:srgbClr val="4F15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70982" y="3922776"/>
            <a:ext cx="608076" cy="20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14416" y="394472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92597" y="394472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70778" y="394472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48960" y="394472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27141" y="394472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05322" y="3944722"/>
            <a:ext cx="10973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083503" y="3944722"/>
            <a:ext cx="18288" cy="16093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19088" y="3703320"/>
            <a:ext cx="594360" cy="548640"/>
          </a:xfrm>
          <a:prstGeom prst="rect">
            <a:avLst/>
          </a:prstGeom>
          <a:solidFill>
            <a:srgbClr val="C08A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08242" y="4005072"/>
            <a:ext cx="416052" cy="15361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37960" y="402153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91452" y="402153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44945" y="402153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98437" y="402153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51930" y="402153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05422" y="4021531"/>
            <a:ext cx="10973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58914" y="4021531"/>
            <a:ext cx="18288" cy="120701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23176" y="3566160"/>
            <a:ext cx="731520" cy="685800"/>
          </a:xfrm>
          <a:prstGeom prst="rect">
            <a:avLst/>
          </a:prstGeom>
          <a:solidFill>
            <a:srgbClr val="6B1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32904" y="3943350"/>
            <a:ext cx="512064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69480" y="396392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35317" y="396392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01154" y="396392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6990" y="396392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32827" y="396392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98664" y="3963924"/>
            <a:ext cx="10973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664501" y="3963924"/>
            <a:ext cx="18288" cy="15087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964424" y="3794760"/>
            <a:ext cx="548640" cy="457200"/>
          </a:xfrm>
          <a:prstGeom prst="rect">
            <a:avLst/>
          </a:prstGeom>
          <a:solidFill>
            <a:srgbClr val="8C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46720" y="4046220"/>
            <a:ext cx="384048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74152" y="405993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23530" y="405993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72907" y="405993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22285" y="405993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71662" y="405993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321040" y="4059936"/>
            <a:ext cx="10973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370418" y="4059936"/>
            <a:ext cx="18288" cy="100584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49240" y="4251960"/>
            <a:ext cx="3429000" cy="54864"/>
          </a:xfrm>
          <a:prstGeom prst="rect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486400" y="411480"/>
            <a:ext cx="685800" cy="68580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0" y="582930"/>
            <a:ext cx="342900" cy="342900"/>
          </a:xfrm>
          <a:prstGeom prst="rect">
            <a:avLst/>
          </a:prstGeom>
        </p:spPr>
      </p:pic>
      <p:sp>
        <p:nvSpPr>
          <p:cNvPr id="122" name="Shape 119"/>
          <p:cNvSpPr/>
          <p:nvPr/>
        </p:nvSpPr>
        <p:spPr>
          <a:xfrm>
            <a:off x="7955280" y="4114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730" y="582930"/>
            <a:ext cx="342900" cy="342900"/>
          </a:xfrm>
          <a:prstGeom prst="rect">
            <a:avLst/>
          </a:prstGeom>
        </p:spPr>
      </p:pic>
      <p:sp>
        <p:nvSpPr>
          <p:cNvPr id="124" name="Shape 120"/>
          <p:cNvSpPr/>
          <p:nvPr/>
        </p:nvSpPr>
        <p:spPr>
          <a:xfrm>
            <a:off x="6263640" y="758952"/>
            <a:ext cx="1600200" cy="0"/>
          </a:xfrm>
          <a:prstGeom prst="line">
            <a:avLst/>
          </a:prstGeom>
          <a:noFill/>
          <a:ln w="19050">
            <a:solidFill>
              <a:srgbClr val="6B1E2E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inventory needs to be smarter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316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007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item runs out in one store while another holds a surplus.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746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96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437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items tie up cash, storage and shelf space.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8176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Inaccurate records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9867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errors and rare counts make system stock hard to trust.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120640" y="1280160"/>
            <a:ext cx="3474720" cy="3337560"/>
          </a:xfrm>
          <a:prstGeom prst="roundRect">
            <a:avLst>
              <a:gd name="adj" fmla="val 4110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406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StockSmart answer</a:t>
            </a:r>
            <a:endParaRPr lang="en-US" sz="2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13055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view of stock across stores and warehouses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9718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852160" y="29443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and RFID capture instead of typing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813048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852160" y="378561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reorder suggestions that say what to buy, and when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SKUs, categories, prices, reorder levels and barcodes.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6802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Multi-location stock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warehouses with transfers and a full stock ledger.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0" y="137160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0" y="155448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16802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processing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pick, pack and ship without overselling.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1089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41757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 and POs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partial receipts and on-time rates.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31089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29184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41757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 and RFID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Scan-enabled screens, tag registry and fast stock counts.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943600" y="310896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26480" y="329184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210" y="341757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6656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reporting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12648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Turnover, fill rate, stock accuracy and ABC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scan to stock update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45920" y="1691640"/>
            <a:ext cx="1234440" cy="0"/>
          </a:xfrm>
          <a:prstGeom prst="line">
            <a:avLst/>
          </a:prstGeom>
          <a:noFill/>
          <a:ln w="190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77240" y="1280160"/>
            <a:ext cx="822960" cy="82296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4859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read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749040" y="1691640"/>
            <a:ext cx="1234440" cy="0"/>
          </a:xfrm>
          <a:prstGeom prst="line">
            <a:avLst/>
          </a:prstGeom>
          <a:noFill/>
          <a:ln w="190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80360" y="1280160"/>
            <a:ext cx="822960" cy="822960"/>
          </a:xfrm>
          <a:prstGeom prst="ellipse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4859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product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52160" y="1691640"/>
            <a:ext cx="1234440" cy="0"/>
          </a:xfrm>
          <a:prstGeom prst="line">
            <a:avLst/>
          </a:prstGeom>
          <a:noFill/>
          <a:ln w="190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983480" y="1280160"/>
            <a:ext cx="822960" cy="82296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4859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634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workflow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086600" y="1280160"/>
            <a:ext cx="822960" cy="822960"/>
          </a:xfrm>
          <a:prstGeom prst="ellipse">
            <a:avLst/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14859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 ledger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288036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22326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Keyboard-wedge scanners type into the screen. EAN-13, UPC-A, Code 128 and QR, plus printable labels.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288036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322326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32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4892040" y="3703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middleware sends batches of tag reads. Repeated batches are ignored, unknown tags go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speed and reliability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344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53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scan input, KPI charts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2194560"/>
            <a:ext cx="0" cy="182880"/>
          </a:xfrm>
          <a:prstGeom prst="line">
            <a:avLst/>
          </a:prstGeom>
          <a:noFill/>
          <a:ln w="190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377440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6860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05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JWT, business rules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0" y="3246120"/>
            <a:ext cx="0" cy="182880"/>
          </a:xfrm>
          <a:prstGeom prst="line">
            <a:avLst/>
          </a:prstGeom>
          <a:noFill/>
          <a:ln w="19050">
            <a:solidFill>
              <a:srgbClr val="6B1E2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3429000"/>
            <a:ext cx="4389120" cy="868680"/>
          </a:xfrm>
          <a:prstGeom prst="roundRect">
            <a:avLst>
              <a:gd name="adj" fmla="val 12632"/>
            </a:avLst>
          </a:prstGeom>
          <a:solidFill>
            <a:srgbClr val="FCEBD0"/>
          </a:solidFill>
          <a:ln w="12700">
            <a:solidFill>
              <a:srgbClr val="FCEB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376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557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DB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Flyway-managed schema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with Docker, shipped by a Jenkins pipeline with SonarQube checks.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03520" y="132588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3035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500 ms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539496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API calls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040880" y="132588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04088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2600" dirty="0"/>
          </a:p>
        </p:txBody>
      </p:sp>
      <p:sp>
        <p:nvSpPr>
          <p:cNvPr id="26" name="Text 21"/>
          <p:cNvSpPr txBox="1"/>
          <p:nvPr/>
        </p:nvSpPr>
        <p:spPr>
          <a:xfrm>
            <a:off x="713232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target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303520" y="292608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539496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test coverage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292608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0408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ms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713232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lookup, 95%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F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in 15 two-week sprints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7498080" cy="0"/>
          </a:xfrm>
          <a:prstGeom prst="line">
            <a:avLst/>
          </a:prstGeom>
          <a:noFill/>
          <a:ln w="19050">
            <a:solidFill>
              <a:srgbClr val="F1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1901952"/>
            <a:ext cx="402336" cy="402336"/>
          </a:xfrm>
          <a:prstGeom prst="ellipse">
            <a:avLst/>
          </a:prstGeom>
          <a:solidFill>
            <a:srgbClr val="6B1E2E"/>
          </a:solidFill>
          <a:ln w="25400">
            <a:solidFill>
              <a:srgbClr val="FCEB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E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79192" y="1901952"/>
            <a:ext cx="402336" cy="402336"/>
          </a:xfrm>
          <a:prstGeom prst="ellipse">
            <a:avLst/>
          </a:prstGeom>
          <a:solidFill>
            <a:srgbClr val="6B1E2E"/>
          </a:solidFill>
          <a:ln w="25400">
            <a:solidFill>
              <a:srgbClr val="FCEB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E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multi-location stock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901952"/>
            <a:ext cx="402336" cy="402336"/>
          </a:xfrm>
          <a:prstGeom prst="ellipse">
            <a:avLst/>
          </a:prstGeom>
          <a:solidFill>
            <a:srgbClr val="6B1E2E"/>
          </a:solidFill>
          <a:ln w="25400">
            <a:solidFill>
              <a:srgbClr val="FCEB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E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and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62472" y="1901952"/>
            <a:ext cx="402336" cy="402336"/>
          </a:xfrm>
          <a:prstGeom prst="ellipse">
            <a:avLst/>
          </a:prstGeom>
          <a:solidFill>
            <a:srgbClr val="6B1E2E"/>
          </a:solidFill>
          <a:ln w="25400">
            <a:solidFill>
              <a:srgbClr val="FCEB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E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Scanning, RFID and KPIs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54112" y="1901952"/>
            <a:ext cx="402336" cy="402336"/>
          </a:xfrm>
          <a:prstGeom prst="ellipse">
            <a:avLst/>
          </a:prstGeom>
          <a:solidFill>
            <a:srgbClr val="FCEBD0"/>
          </a:solidFill>
          <a:ln w="25400">
            <a:solidFill>
              <a:srgbClr val="FCEB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EB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and release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35661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3639312"/>
            <a:ext cx="914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3639312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11880" y="35661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3639312"/>
            <a:ext cx="914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639312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5661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6B1E2E"/>
          </a:solidFill>
          <a:ln w="12700">
            <a:solidFill>
              <a:srgbClr val="6B1E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639312"/>
            <a:ext cx="914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39312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StockSmart</dc:title>
  <dc:subject>PptxGenJS Presentation</dc:subject>
  <dc:creator>PptxGenJS</dc:creator>
  <cp:lastModifiedBy>PptxGenJS</cp:lastModifiedBy>
  <cp:revision>1</cp:revision>
  <dcterms:created xsi:type="dcterms:W3CDTF">2026-09-30T19:24:17Z</dcterms:created>
  <dcterms:modified xsi:type="dcterms:W3CDTF">2026-09-30T19:24:17Z</dcterms:modified>
</cp:coreProperties>
</file>